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20040"/>
            <a:ext cx="1072865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A2540"/>
                </a:solidFill>
              </a:defRPr>
            </a:pPr>
            <a:r>
              <a:t>PARAKH - Digital Compliance Inspection System Architecture</a:t>
            </a:r>
          </a:p>
          <a:p>
            <a:pPr algn="ctr">
              <a:defRPr sz="1100">
                <a:solidFill>
                  <a:srgbClr val="64748B"/>
                </a:solidFill>
              </a:defRPr>
            </a:pPr>
            <a:r>
              <a:t>Automated Verification Pipeline for Legal Metrology (Packaged Commodities) Rules, 2011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87552"/>
            <a:ext cx="10911535" cy="29260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334155"/>
                </a:solidFill>
              </a:defRPr>
            </a:pPr>
            <a:r>
              <a:t>🔄  Continuous Regulatory Loop: Field Intake ➔ AI Extraction ➔ Legal Rule Engine ➔ Regulatory Governance &amp; Enforcement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2423160" cy="822960"/>
          </a:xfrm>
          <a:prstGeom prst="roundRect">
            <a:avLst/>
          </a:prstGeom>
          <a:solidFill>
            <a:srgbClr val="D1FAE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65F46"/>
                </a:solidFill>
              </a:defRPr>
            </a:pPr>
            <a:r>
              <a:t>📱  Field Inspector Portal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87168"/>
            <a:ext cx="2423160" cy="7772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50" b="1">
                <a:solidFill>
                  <a:srgbClr val="065F46"/>
                </a:solidFill>
              </a:defRPr>
            </a:pPr>
            <a:r>
              <a:t>Multi-Face Package Capture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Front, Back, Side &amp; MRP display panels</a:t>
            </a:r>
          </a:p>
        </p:txBody>
      </p:sp>
      <p:sp>
        <p:nvSpPr>
          <p:cNvPr id="7" name="Down Arrow 6"/>
          <p:cNvSpPr/>
          <p:nvPr/>
        </p:nvSpPr>
        <p:spPr>
          <a:xfrm>
            <a:off x="1787652" y="3291840"/>
            <a:ext cx="128016" cy="146304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3465576"/>
            <a:ext cx="2423160" cy="7772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50" b="1">
                <a:solidFill>
                  <a:srgbClr val="065F46"/>
                </a:solidFill>
              </a:defRPr>
            </a:pPr>
            <a:r>
              <a:t>PDP &amp; Spatial Dimensioning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Principal Display Panel area (cm²) input</a:t>
            </a:r>
          </a:p>
        </p:txBody>
      </p:sp>
      <p:sp>
        <p:nvSpPr>
          <p:cNvPr id="9" name="Down Arrow 8"/>
          <p:cNvSpPr/>
          <p:nvPr/>
        </p:nvSpPr>
        <p:spPr>
          <a:xfrm>
            <a:off x="1787652" y="4270248"/>
            <a:ext cx="128016" cy="146304"/>
          </a:xfrm>
          <a:prstGeom prst="downArrow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0080" y="4443984"/>
            <a:ext cx="2423160" cy="77724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50" b="1">
                <a:solidFill>
                  <a:srgbClr val="065F46"/>
                </a:solidFill>
              </a:defRPr>
            </a:pPr>
            <a:r>
              <a:t>Real-Time Field Submission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GPS geo-tagging &amp; offline cache sync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1787652" y="5294376"/>
            <a:ext cx="128016" cy="146304"/>
          </a:xfrm>
          <a:prstGeom prst="downArrow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n 11"/>
          <p:cNvSpPr/>
          <p:nvPr/>
        </p:nvSpPr>
        <p:spPr>
          <a:xfrm>
            <a:off x="1005840" y="5477256"/>
            <a:ext cx="1691640" cy="621792"/>
          </a:xfrm>
          <a:prstGeom prst="can">
            <a:avLst/>
          </a:prstGeom>
          <a:solidFill>
            <a:srgbClr val="F0F9FF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369A1"/>
                </a:solidFill>
              </a:defRPr>
            </a:pPr>
            <a:r>
              <a:t>Central Database</a:t>
            </a:r>
          </a:p>
          <a:p>
            <a:pPr algn="ctr">
              <a:defRPr sz="750">
                <a:solidFill>
                  <a:srgbClr val="075985"/>
                </a:solidFill>
              </a:defRPr>
            </a:pPr>
            <a:r>
              <a:t>Inspection Records &amp; Evidence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118104" y="1709928"/>
            <a:ext cx="256032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429000" y="1371600"/>
            <a:ext cx="2423160" cy="822960"/>
          </a:xfrm>
          <a:prstGeom prst="roundRect">
            <a:avLst/>
          </a:prstGeom>
          <a:solidFill>
            <a:srgbClr val="E0E7FF"/>
          </a:solidFill>
          <a:ln w="190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3730A3"/>
                </a:solidFill>
              </a:defRPr>
            </a:pPr>
            <a:r>
              <a:t>🔍  AI &amp; Vision Extraction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29000" y="2487168"/>
            <a:ext cx="2423160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50" b="1">
                <a:solidFill>
                  <a:srgbClr val="312E81"/>
                </a:solidFill>
              </a:defRPr>
            </a:pPr>
            <a:r>
              <a:t>Optical Text Recognition (OCR)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Tesseract · Confidence scoring · Multi-angle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4576572" y="3291840"/>
            <a:ext cx="128016" cy="146304"/>
          </a:xfrm>
          <a:prstGeom prst="down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429000" y="3465576"/>
            <a:ext cx="2423160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50" b="1">
                <a:solidFill>
                  <a:srgbClr val="312E81"/>
                </a:solidFill>
              </a:defRPr>
            </a:pPr>
            <a:r>
              <a:t>Table I Numeral Height Audit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Measured height (mm) vs statutory min.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4576572" y="4270248"/>
            <a:ext cx="128016" cy="146304"/>
          </a:xfrm>
          <a:prstGeom prst="downArrow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29000" y="4443984"/>
            <a:ext cx="2423160" cy="7772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A5B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50" b="1">
                <a:solidFill>
                  <a:srgbClr val="312E81"/>
                </a:solidFill>
              </a:defRPr>
            </a:pPr>
            <a:r>
              <a:t>Key Entity Bounding Boxes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MRP, Net Qty, Dates, Origin &amp; Packer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5907024" y="1709928"/>
            <a:ext cx="256032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17920" y="1371600"/>
            <a:ext cx="2423160" cy="82296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92400E"/>
                </a:solidFill>
              </a:defRPr>
            </a:pPr>
            <a:r>
              <a:t>⚖️  PCR Rule Engine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17920" y="2487168"/>
            <a:ext cx="2423160" cy="7772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50" b="1">
                <a:solidFill>
                  <a:srgbClr val="92400E"/>
                </a:solidFill>
              </a:defRPr>
            </a:pPr>
            <a:r>
              <a:t>10 Statutory Rule Audit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PASS · FAIL · REVIEW status grading</a:t>
            </a:r>
          </a:p>
        </p:txBody>
      </p:sp>
      <p:sp>
        <p:nvSpPr>
          <p:cNvPr id="23" name="Down Arrow 22"/>
          <p:cNvSpPr/>
          <p:nvPr/>
        </p:nvSpPr>
        <p:spPr>
          <a:xfrm>
            <a:off x="7365492" y="3291840"/>
            <a:ext cx="128016" cy="146304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217920" y="3465576"/>
            <a:ext cx="2423160" cy="7772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50" b="1">
                <a:solidFill>
                  <a:srgbClr val="92400E"/>
                </a:solidFill>
              </a:defRPr>
            </a:pPr>
            <a:r>
              <a:t>Statutory Clause Mapping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Rules 6(1)(a)-(f), Rule 12 &amp; legal citations</a:t>
            </a:r>
          </a:p>
        </p:txBody>
      </p:sp>
      <p:sp>
        <p:nvSpPr>
          <p:cNvPr id="25" name="Down Arrow 24"/>
          <p:cNvSpPr/>
          <p:nvPr/>
        </p:nvSpPr>
        <p:spPr>
          <a:xfrm>
            <a:off x="7365492" y="4270248"/>
            <a:ext cx="128016" cy="146304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217920" y="4443984"/>
            <a:ext cx="2423160" cy="777240"/>
          </a:xfrm>
          <a:prstGeom prst="roundRect">
            <a:avLst/>
          </a:prstGeom>
          <a:solidFill>
            <a:srgbClr val="FFFBEB"/>
          </a:solidFill>
          <a:ln w="1270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50" b="1">
                <a:solidFill>
                  <a:srgbClr val="92400E"/>
                </a:solidFill>
              </a:defRPr>
            </a:pPr>
            <a:r>
              <a:t>Discrepancy &amp; Defect Flagging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Missing tax clauses, unit errors, contrast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8695944" y="1709928"/>
            <a:ext cx="256032" cy="146304"/>
          </a:xfrm>
          <a:prstGeom prst="right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006840" y="1371600"/>
            <a:ext cx="2423160" cy="822960"/>
          </a:xfrm>
          <a:prstGeom prst="roundRect">
            <a:avLst/>
          </a:prstGeom>
          <a:solidFill>
            <a:srgbClr val="DBEAFE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1E40AF"/>
                </a:solidFill>
              </a:defRPr>
            </a:pPr>
            <a:r>
              <a:t>🛡️  Enforcement Dashboard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006840" y="2487168"/>
            <a:ext cx="242316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50" b="1">
                <a:solidFill>
                  <a:srgbClr val="1D4ED8"/>
                </a:solidFill>
              </a:defRPr>
            </a:pPr>
            <a:r>
              <a:t>State / National Monitoring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Violation rates, category hotspots &amp; trends</a:t>
            </a:r>
          </a:p>
        </p:txBody>
      </p:sp>
      <p:sp>
        <p:nvSpPr>
          <p:cNvPr id="30" name="Down Arrow 29"/>
          <p:cNvSpPr/>
          <p:nvPr/>
        </p:nvSpPr>
        <p:spPr>
          <a:xfrm>
            <a:off x="10154412" y="3291840"/>
            <a:ext cx="128016" cy="146304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006840" y="3465576"/>
            <a:ext cx="242316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50" b="1">
                <a:solidFill>
                  <a:srgbClr val="1D4ED8"/>
                </a:solidFill>
              </a:defRPr>
            </a:pPr>
            <a:r>
              <a:t>Legal Inspection Memo &amp; Notice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PDF seizure memo with tamper-proof trail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10154412" y="4270248"/>
            <a:ext cx="128016" cy="146304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9006840" y="4443984"/>
            <a:ext cx="2423160" cy="77724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defRPr sz="1050" b="1">
                <a:solidFill>
                  <a:srgbClr val="1D4ED8"/>
                </a:solidFill>
              </a:defRPr>
            </a:pPr>
            <a:r>
              <a:t>Officer RBAC &amp; Rule Updates</a:t>
            </a:r>
          </a:p>
          <a:p>
            <a:pPr algn="ctr">
              <a:defRPr sz="800">
                <a:solidFill>
                  <a:srgbClr val="475569"/>
                </a:solidFill>
              </a:defRPr>
            </a:pPr>
            <a:r>
              <a:t>Inspector rosters, gazette notifications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